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Atendimentos</c:v>
                </c:pt>
              </c:strCache>
            </c:strRef>
          </c:tx>
          <c:spPr>
            <a:solidFill>
              <a:srgbClr val="E06020"/>
            </a:solidFill>
          </c:spPr>
          <c:cat>
            <c:strRef>
              <c:f>Sheet1!$A$2:$A$7</c:f>
              <c:strCache>
                <c:ptCount val="6"/>
                <c:pt idx="0">
                  <c:v>2026-02</c:v>
                </c:pt>
                <c:pt idx="1">
                  <c:v>2026-03</c:v>
                </c:pt>
                <c:pt idx="2">
                  <c:v>2026-01</c:v>
                </c:pt>
                <c:pt idx="3">
                  <c:v>2026-04</c:v>
                </c:pt>
                <c:pt idx="4">
                  <c:v>2026-06</c:v>
                </c:pt>
                <c:pt idx="5">
                  <c:v>2026-05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</c:v>
                </c:pt>
                <c:pt idx="1">
                  <c:v>57</c:v>
                </c:pt>
                <c:pt idx="2">
                  <c:v>46</c:v>
                </c:pt>
                <c:pt idx="3">
                  <c:v>39</c:v>
                </c:pt>
                <c:pt idx="4">
                  <c:v>38</c:v>
                </c:pt>
                <c:pt idx="5">
                  <c:v>19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Atendimentos</c:v>
                </c:pt>
              </c:strCache>
            </c:strRef>
          </c:tx>
          <c:spPr>
            <a:solidFill>
              <a:srgbClr val="A02060"/>
            </a:solidFill>
          </c:spPr>
          <c:cat>
            <c:strRef>
              <c:f>Sheet1!$A$2:$A$7</c:f>
              <c:strCache>
                <c:ptCount val="6"/>
                <c:pt idx="0">
                  <c:v>2026-05</c:v>
                </c:pt>
                <c:pt idx="1">
                  <c:v>2026-03</c:v>
                </c:pt>
                <c:pt idx="2">
                  <c:v>2026-04</c:v>
                </c:pt>
                <c:pt idx="3">
                  <c:v>2026-06</c:v>
                </c:pt>
                <c:pt idx="4">
                  <c:v>2026-01</c:v>
                </c:pt>
                <c:pt idx="5">
                  <c:v>2026-02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13</c:v>
                </c:pt>
                <c:pt idx="2">
                  <c:v>11</c:v>
                </c:pt>
                <c:pt idx="3">
                  <c:v>11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Atendimentos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Sheet1!$A$2:$A$11</c:f>
              <c:strCache>
                <c:ptCount val="10"/>
                <c:pt idx="0">
                  <c:v>FOTONA - D+</c:v>
                </c:pt>
                <c:pt idx="1">
                  <c:v>LIMPEZA DE PELE</c:v>
                </c:pt>
                <c:pt idx="2">
                  <c:v>CONSULTA DRA RAISSA</c:v>
                </c:pt>
                <c:pt idx="3">
                  <c:v>FOTONA - CORPORAL</c:v>
                </c:pt>
                <c:pt idx="4">
                  <c:v>ENDOLASER</c:v>
                </c:pt>
                <c:pt idx="5">
                  <c:v>FOTONA - PEELING</c:v>
                </c:pt>
                <c:pt idx="6">
                  <c:v>FOTONA - ESTRIAS (15X15) CM2</c:v>
                </c:pt>
                <c:pt idx="7">
                  <c:v>RETORNO - FOTONA</c:v>
                </c:pt>
                <c:pt idx="8">
                  <c:v>EMSCULPTNEO ABDOMEN</c:v>
                </c:pt>
                <c:pt idx="9">
                  <c:v>FOTONA - INTIMALASE, REJUVENESCIMENTO DO CANAL VAGINAL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</c:v>
                </c:pt>
                <c:pt idx="1">
                  <c:v>6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0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73152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Relatório de Taxa de Ociosidade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7CA3"/>
                </a:solidFill>
                <a:latin typeface="Calibri"/>
              </a:defRPr>
            </a:pPr>
            <a:r>
              <a:t>Análise de Viabilidade: Abertura 8h · Fechamento 19h · Sábados</a:t>
            </a:r>
            <a:br/>
            <a:r>
              <a:t>Janeiro a Junho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73752" cy="36576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02060"/>
                </a:solidFill>
                <a:latin typeface="Calibri"/>
              </a:defRPr>
            </a:pPr>
            <a:r>
              <a:t>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7CA3"/>
                </a:solidFill>
                <a:latin typeface="Calibri"/>
              </a:defRPr>
            </a:pPr>
            <a:r>
              <a:t>Análise combinada dos 3 cenários de redução de horário — Janeiro a Junho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36576"/>
          </a:xfrm>
          <a:prstGeom prst="rect">
            <a:avLst/>
          </a:prstGeom>
          <a:solidFill>
            <a:srgbClr val="6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TOTAL ATENDIMENTOS IMPACTADOS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2060"/>
                </a:solidFill>
                <a:latin typeface="Calibri"/>
              </a:defRPr>
            </a:pPr>
            <a:r>
              <a:t>350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7CA3"/>
                </a:solidFill>
                <a:latin typeface="Calibri"/>
              </a:defRPr>
            </a:pPr>
            <a:r>
              <a:t>Soma de todos os cenários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51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51760" cy="36576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SÁBADOS COM ATENDIMENTO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6020"/>
                </a:solidFill>
                <a:latin typeface="Calibri"/>
              </a:defRPr>
            </a:pPr>
            <a:r>
              <a:t>21/26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7CA3"/>
                </a:solidFill>
                <a:latin typeface="Calibri"/>
              </a:defRPr>
            </a:pPr>
            <a:r>
              <a:t>Taxa de ocupação: 80.8%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651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2651760" cy="36576"/>
          </a:xfrm>
          <a:prstGeom prst="rect">
            <a:avLst/>
          </a:prstGeom>
          <a:solidFill>
            <a:srgbClr val="A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MÉDIA/DIA ANTES 8H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02060"/>
                </a:solidFill>
                <a:latin typeface="Calibri"/>
              </a:defRPr>
            </a:pPr>
            <a:r>
              <a:t>0.51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7CA3"/>
                </a:solidFill>
                <a:latin typeface="Calibri"/>
              </a:defRPr>
            </a:pPr>
            <a:r>
              <a:t>66 atendimentos em 129 dias úteis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371600"/>
            <a:ext cx="2651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371600"/>
            <a:ext cx="265176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59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ATENDIMENTOS APÓS 19H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7CA3"/>
                </a:solidFill>
                <a:latin typeface="Calibri"/>
              </a:defRPr>
            </a:pPr>
            <a:r>
              <a:t>Em 6 meses de análise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2060"/>
                </a:solidFill>
                <a:latin typeface="Calibri"/>
              </a:defRPr>
            </a:pPr>
            <a:r>
              <a:t>Conclusão Preliminar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2004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2850"/>
                </a:solidFill>
                <a:latin typeface="Calibri"/>
              </a:defRPr>
            </a:pPr>
            <a:r>
              <a:t>Abertura às 8h: VIÁVEL — apenas 0,51 atendimentos/dia antes das 8h (66 em 129 dias úteis). Impacto mínimo na operação.</a:t>
            </a:r>
            <a:br/>
            <a:r>
              <a:t>Fechamento às 19h: VIÁVEL — apenas 24 atendimentos após 19h em 6 meses. Maioria de estética (16 de 24).</a:t>
            </a:r>
            <a:br/>
            <a:r>
              <a:t>Sábados: REQUER ANÁLISE — 80,8% dos sábados têm atendimento, média de 12,4 atendimentos/dia, 260 no total.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640080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602060"/>
                </a:solidFill>
                <a:latin typeface="Calibri"/>
              </a:defRPr>
            </a:pPr>
            <a:r>
              <a:t>Análise Detalhada: Sábados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7CA3"/>
                </a:solidFill>
                <a:latin typeface="Calibri"/>
              </a:defRPr>
            </a:pPr>
            <a:r>
              <a:t>21 de 26 sábados com atendimento — 80,8% de ocupação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743200" cy="27432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194560" cy="36576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TOTAL ATENDIMENTOS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6020"/>
                </a:solidFill>
                <a:latin typeface="Calibri"/>
              </a:defRPr>
            </a:pPr>
            <a:r>
              <a:t>260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5603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2560320"/>
            <a:ext cx="2194560" cy="36576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697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MÉDIA/SÁBADO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6020"/>
                </a:solidFill>
                <a:latin typeface="Calibri"/>
              </a:defRPr>
            </a:pPr>
            <a:r>
              <a:t>12.4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25603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2560320"/>
            <a:ext cx="2194560" cy="36576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697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SÁBADOS OCUPADOS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6020"/>
                </a:solidFill>
                <a:latin typeface="Calibri"/>
              </a:defRPr>
            </a:pPr>
            <a:r>
              <a:t>21/26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5603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560320"/>
            <a:ext cx="2194560" cy="36576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2697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PACIENTES ÚNICOS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6020"/>
                </a:solidFill>
                <a:latin typeface="Calibri"/>
              </a:defRPr>
            </a:pPr>
            <a:r>
              <a:t>62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3749039"/>
          <a:ext cx="68580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772400" y="37490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2060"/>
                </a:solidFill>
                <a:latin typeface="Calibri"/>
              </a:defRPr>
            </a:pPr>
            <a:r>
              <a:t>Top 8 Tipos (Sábados)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206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SORO PERSONALIZADO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42062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06020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4622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ASSESSMENT ACOMPANHAMENTO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44622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06020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7183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ALINHAMENTO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47183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06020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9743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TIRZEPATIDA 2,5mg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49743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06020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52303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CONSULTA NUTRICIONAL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5230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06020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4864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TIRZEPATIDA 10mg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54864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0602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7424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ASSESSMENT CORPORAL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574243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0602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59984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SORO ATIVADOR METABÓLICO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59984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0602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640080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602060"/>
                </a:solidFill>
                <a:latin typeface="Calibri"/>
              </a:defRPr>
            </a:pPr>
            <a:r>
              <a:t>Análise Detalhada: Antes das 8h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7CA3"/>
                </a:solidFill>
                <a:latin typeface="Calibri"/>
              </a:defRPr>
            </a:pPr>
            <a:r>
              <a:t>Atendimentos entre 7h e 8h da manhã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743200" cy="27432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194560" cy="36576"/>
          </a:xfrm>
          <a:prstGeom prst="rect">
            <a:avLst/>
          </a:prstGeom>
          <a:solidFill>
            <a:srgbClr val="A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02060"/>
                </a:solidFill>
                <a:latin typeface="Calibri"/>
              </a:defRPr>
            </a:pPr>
            <a:r>
              <a:t>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5603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2560320"/>
            <a:ext cx="2194560" cy="36576"/>
          </a:xfrm>
          <a:prstGeom prst="rect">
            <a:avLst/>
          </a:prstGeom>
          <a:solidFill>
            <a:srgbClr val="A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697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MÉDIA/DIA ÚTIL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02060"/>
                </a:solidFill>
                <a:latin typeface="Calibri"/>
              </a:defRPr>
            </a:pPr>
            <a:r>
              <a:t>0.51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25603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2560320"/>
            <a:ext cx="2194560" cy="36576"/>
          </a:xfrm>
          <a:prstGeom prst="rect">
            <a:avLst/>
          </a:prstGeom>
          <a:solidFill>
            <a:srgbClr val="A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697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DIAS ÚTEIS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02060"/>
                </a:solidFill>
                <a:latin typeface="Calibri"/>
              </a:defRPr>
            </a:pPr>
            <a:r>
              <a:t>129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5603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560320"/>
            <a:ext cx="2194560" cy="36576"/>
          </a:xfrm>
          <a:prstGeom prst="rect">
            <a:avLst/>
          </a:prstGeom>
          <a:solidFill>
            <a:srgbClr val="A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2697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PACIENTES ÚNICOS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02060"/>
                </a:solidFill>
                <a:latin typeface="Calibri"/>
              </a:defRPr>
            </a:pPr>
            <a:r>
              <a:t>25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3749039"/>
          <a:ext cx="68580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772400" y="37490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2060"/>
                </a:solidFill>
                <a:latin typeface="Calibri"/>
              </a:defRPr>
            </a:pPr>
            <a:r>
              <a:t>Tipos de Atendimento (Antes 8h)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206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ASSESSMENT ACOMPANHAMENTO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42062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2060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4622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ALINHAMENTO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44622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206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7183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CONSULTA NUTRICIONAL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47183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2060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9743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1ª CONSULTA NUTRICIONAL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49743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206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52303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TAREFA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52303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20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4864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Exame Ex Complex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54864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20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7424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ASSESSMENT CORPORAL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574243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20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59984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Higienização Facial (Estética)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59984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20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62544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EXAMES DE REEMBOLSO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2544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20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65105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2850"/>
                </a:solidFill>
                <a:latin typeface="Calibri"/>
              </a:defRPr>
            </a:pPr>
            <a:r>
              <a:t>BodyGee (medidas)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206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640080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602060"/>
                </a:solidFill>
                <a:latin typeface="Calibri"/>
              </a:defRPr>
            </a:pPr>
            <a:r>
              <a:t>Análise Detalhada: Após 19h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7CA3"/>
                </a:solidFill>
                <a:latin typeface="Calibri"/>
              </a:defRPr>
            </a:pPr>
            <a:r>
              <a:t>Atendimentos após o horário comercial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743200" cy="27432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7CA3"/>
                </a:solidFill>
                <a:latin typeface="Calibri"/>
              </a:defRPr>
            </a:pPr>
            <a:r>
              <a:t>24 atendimentos em 6 meses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56032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56032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PACIENTES ÚNICOS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56032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256032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6974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7CA3"/>
                </a:solidFill>
                <a:latin typeface="Calibri"/>
              </a:defRPr>
            </a:pPr>
            <a:r>
              <a:t>PRINCIPAL ÁREA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Estética (16/24)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29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7CA3"/>
                </a:solidFill>
                <a:latin typeface="Calibri"/>
              </a:defRPr>
            </a:pPr>
            <a:r>
              <a:t>66,7% dos atendimentos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57200" y="3749039"/>
          <a:ext cx="112471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640080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602060"/>
                </a:solidFill>
                <a:latin typeface="Calibri"/>
              </a:defRPr>
            </a:pPr>
            <a:r>
              <a:t>Impacto por Profissional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7CA3"/>
                </a:solidFill>
                <a:latin typeface="Calibri"/>
              </a:defRPr>
            </a:pPr>
            <a:r>
              <a:t>Todos os cenários combinados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743200" cy="27432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2060"/>
                </a:solidFill>
                <a:latin typeface="Calibri"/>
              </a:defRPr>
            </a:pPr>
            <a:r>
              <a:t>Top Profissionais Impactados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108960"/>
            <a:ext cx="8229600" cy="320040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C2850"/>
                </a:solidFill>
                <a:latin typeface="Calibri"/>
              </a:defRPr>
            </a:pPr>
            <a:r>
              <a:t>Helaine Beatriz Jacobucci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2060"/>
                </a:solidFill>
                <a:latin typeface="Calibri"/>
              </a:defRPr>
            </a:pPr>
            <a:r>
              <a:t>134 (38.3%)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566160"/>
            <a:ext cx="7738280" cy="320040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C2850"/>
                </a:solidFill>
                <a:latin typeface="Calibri"/>
              </a:defRPr>
            </a:pPr>
            <a:r>
              <a:t>Enfermagem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1572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2060"/>
                </a:solidFill>
                <a:latin typeface="Calibri"/>
              </a:defRPr>
            </a:pPr>
            <a:r>
              <a:t>126 (36.0%)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4023360"/>
            <a:ext cx="1719617" cy="320040"/>
          </a:xfrm>
          <a:prstGeom prst="rect">
            <a:avLst/>
          </a:prstGeom>
          <a:solidFill>
            <a:srgbClr val="A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C2850"/>
                </a:solidFill>
                <a:latin typeface="Calibri"/>
              </a:defRPr>
            </a:pPr>
            <a:r>
              <a:t>Estética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7057" y="4023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2060"/>
                </a:solidFill>
                <a:latin typeface="Calibri"/>
              </a:defRPr>
            </a:pPr>
            <a:r>
              <a:t>28 (8.0%)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480560"/>
            <a:ext cx="1351128" cy="320040"/>
          </a:xfrm>
          <a:prstGeom prst="rect">
            <a:avLst/>
          </a:prstGeom>
          <a:solidFill>
            <a:srgbClr val="A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C2850"/>
                </a:solidFill>
                <a:latin typeface="Calibri"/>
              </a:defRPr>
            </a:pPr>
            <a:r>
              <a:t>Cibele Priscila Busch Furlan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8568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2060"/>
                </a:solidFill>
                <a:latin typeface="Calibri"/>
              </a:defRPr>
            </a:pPr>
            <a:r>
              <a:t>22 (6.3%)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937760"/>
            <a:ext cx="859808" cy="320040"/>
          </a:xfrm>
          <a:prstGeom prst="rect">
            <a:avLst/>
          </a:prstGeom>
          <a:solidFill>
            <a:srgbClr val="A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C2850"/>
                </a:solidFill>
                <a:latin typeface="Calibri"/>
              </a:defRPr>
            </a:pPr>
            <a:r>
              <a:t>Estética Lais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7248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2060"/>
                </a:solidFill>
                <a:latin typeface="Calibri"/>
              </a:defRPr>
            </a:pPr>
            <a:r>
              <a:t>14 (4.0%)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5394960"/>
            <a:ext cx="675564" cy="320040"/>
          </a:xfrm>
          <a:prstGeom prst="rect">
            <a:avLst/>
          </a:prstGeom>
          <a:solidFill>
            <a:srgbClr val="A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94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C2850"/>
                </a:solidFill>
                <a:latin typeface="Calibri"/>
              </a:defRPr>
            </a:pPr>
            <a:r>
              <a:t>Raíssa Quaiatti Antonelli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3004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2060"/>
                </a:solidFill>
                <a:latin typeface="Calibri"/>
              </a:defRPr>
            </a:pPr>
            <a:r>
              <a:t>11 (3.1%)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5852160"/>
            <a:ext cx="614149" cy="320040"/>
          </a:xfrm>
          <a:prstGeom prst="rect">
            <a:avLst/>
          </a:prstGeom>
          <a:solidFill>
            <a:srgbClr val="A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852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C2850"/>
                </a:solidFill>
                <a:latin typeface="Calibri"/>
              </a:defRPr>
            </a:pPr>
            <a:r>
              <a:t>Estética Grazi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1589" y="5852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2060"/>
                </a:solidFill>
                <a:latin typeface="Calibri"/>
              </a:defRPr>
            </a:pPr>
            <a:r>
              <a:t>10 (2.9%)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6309360"/>
            <a:ext cx="307074" cy="320040"/>
          </a:xfrm>
          <a:prstGeom prst="rect">
            <a:avLst/>
          </a:prstGeom>
          <a:solidFill>
            <a:srgbClr val="A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09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C2850"/>
                </a:solidFill>
                <a:latin typeface="Calibri"/>
              </a:defRPr>
            </a:pPr>
            <a:r>
              <a:t>Valeria Correia de Jesus Silva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4514" y="6309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2060"/>
                </a:solidFill>
                <a:latin typeface="Calibri"/>
              </a:defRPr>
            </a:pPr>
            <a:r>
              <a:t>5 (1.4%)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640080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602060"/>
                </a:solidFill>
                <a:latin typeface="Calibri"/>
              </a:defRPr>
            </a:pPr>
            <a:r>
              <a:t>Recomendações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7CA3"/>
                </a:solidFill>
                <a:latin typeface="Calibri"/>
              </a:defRPr>
            </a:pPr>
            <a:r>
              <a:t>Análise de viabilidade por cenário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743200" cy="27432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514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2060"/>
                </a:solidFill>
                <a:latin typeface="Calibri"/>
              </a:defRPr>
            </a:pPr>
            <a:r>
              <a:t>Abertura às 8h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880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2850"/>
                </a:solidFill>
                <a:latin typeface="Calibri"/>
              </a:defRPr>
            </a:pPr>
            <a:r>
              <a:t>Apenas 66 atendimentos em 6 meses. Média de 0,51/dia útil. Implementar imediatamente.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182880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291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2060"/>
                </a:solidFill>
                <a:latin typeface="Calibri"/>
              </a:defRPr>
            </a:pPr>
            <a:r>
              <a:t>Fechamento às 19h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657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2850"/>
                </a:solidFill>
                <a:latin typeface="Calibri"/>
              </a:defRPr>
            </a:pPr>
            <a:r>
              <a:t>Apenas 24 atendimentos em 6 meses. Manter 1 dia/semana estendido para estética.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82880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69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2060"/>
                </a:solidFill>
                <a:latin typeface="Calibri"/>
              </a:defRPr>
            </a:pPr>
            <a:r>
              <a:t>Eliminar Sábados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434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2850"/>
                </a:solidFill>
                <a:latin typeface="Calibri"/>
              </a:defRPr>
            </a:pPr>
            <a:r>
              <a:t>260 atendimentos, 80,8% ocupação. Reduzir para 2 sábados/mês. Reavaliar em 6 meses.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9204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PLANO NECESSÁRIO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2060"/>
                </a:solidFill>
                <a:latin typeface="Calibri"/>
              </a:defRPr>
            </a:pPr>
            <a:r>
              <a:t>Cenário Combinado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21207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2850"/>
                </a:solidFill>
                <a:latin typeface="Calibri"/>
              </a:defRPr>
            </a:pPr>
            <a:r>
              <a:t>350 atendimentos impactados (~58/mês). Transição 30-60 dias. Meta: Setembro/2026.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0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73152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5C8E0"/>
                </a:solidFill>
                <a:latin typeface="Calibri"/>
              </a:defRPr>
            </a:pPr>
            <a:r>
              <a:t>1. Validar análise com equipe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5C8E0"/>
                </a:solidFill>
                <a:latin typeface="Calibri"/>
              </a:defRPr>
            </a:pPr>
            <a:r>
              <a:t>2. Simular realocação dos atendimentos de sábado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297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5C8E0"/>
                </a:solidFill>
                <a:latin typeface="Calibri"/>
              </a:defRPr>
            </a:pPr>
            <a:r>
              <a:t>3. Definir cronograma de comunicação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709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5C8E0"/>
                </a:solidFill>
                <a:latin typeface="Calibri"/>
              </a:defRPr>
            </a:pPr>
            <a:r>
              <a:t>4. Período de transição: 30-60 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5C8E0"/>
                </a:solidFill>
                <a:latin typeface="Calibri"/>
              </a:defRPr>
            </a:pPr>
            <a:r>
              <a:t>5. Meta: novo horário até Setembro/2026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5943600"/>
            <a:ext cx="4873752" cy="27432"/>
          </a:xfrm>
          <a:prstGeom prst="rect">
            <a:avLst/>
          </a:prstGeom>
          <a:solidFill>
            <a:srgbClr val="E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